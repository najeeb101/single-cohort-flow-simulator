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14" autoAdjust="0"/>
  </p:normalViewPr>
  <p:slideViewPr>
    <p:cSldViewPr snapToGrid="0" snapToObjects="1">
      <p:cViewPr varScale="1">
        <p:scale>
          <a:sx n="68" d="100"/>
          <a:sy n="68" d="100"/>
        </p:scale>
        <p:origin x="123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772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0:00-0:30. Introduce yourself, the program (Scale x QU Practical Training), and the one-line hook: this simulator explains WHY students get delayed, not just how many do. Keep it brief -- the clock is strict.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0:30-1:00. One breath per line -- don't over-explain the agenda, just orient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1:00-2:15. This is the hook -- linger here. Give one concrete example if asked in Q&amp;A: MATH courses failing vs CSEL electives being full look identical in a transcript but need opposite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2:15-3:30. Emphasize 'steady-state' -- it's the difference between modeling one class and modeling how a department actually runs year after year, with freshmen and seniors sharing seats.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3:30-4:15. Point out this separation is WHY the same engine could later support a checkpoint/rewind feature without rewriting the core simulation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4:15-5:15. Keep this fast and visual -- 3 quick beats, don't read every word on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5:15-6:45. This is the centerpiece of the whole project -- slow down here. If you only have time to sell one idea, sell this one: four causes, tracked separately, each demanding a different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6:45-8:00. Emphasize the human-in-the-loop design: the model proposes, a human tests and applies. Nothing is written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8:00-8:45. Keep this brief -- it's supporting evidence for the steady-state claim, not a new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8:45-10:00. Lead with the headline: 66% graduate, but only 33% on time. That gap is the whole story the next slide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10:00-11:15. The punchline: a single graduation-rate number would only say 'a third are delayed' -- separating the signals says WHY, and each cause needs a different fix (math support/gateway redesign vs. elective capacity vs. nothing -- the senior-project one is a downstream artifact).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11:15-12:30. The scope-discipline point is the most 'professional maturity' one -- worth a sentence of reflection if Q&amp;A asks what you'd do differently.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12:30-13:15. Keep to 3-4 items, don't read the whole list verbatim -- point at the first one (real data calibration) as the most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13:15-14:00. Land the plane -- restate the one-line hook from the title slide, now backed by the 66%/33% numbers. Don't introduce new information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14:00-15:00. Buffer slide -- if you're running early, invite one question here before the formal 5-minute Q&amp;A block starts. Likely questions noted below in gray are from your own report's depth, not guaranteed -- use them only if there's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q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357558" cy="960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3317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FD7EE"/>
                </a:solidFill>
                <a:latin typeface="Segoe UI"/>
              </a:rPr>
              <a:t>PRACTICAL TRAINING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Segoe UI"/>
              </a:rPr>
              <a:t>The Cohort Flow Simulator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703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1">
                <a:solidFill>
                  <a:srgbClr val="D8E6F2"/>
                </a:solidFill>
                <a:latin typeface="Segoe UI"/>
              </a:rPr>
              <a:t>Explaining student delay in Qatar University's CS curriculum, one bottleneck signal at a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52431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46177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Najeeb Barkhad  |  Student ID 202307172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983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BFD7EE"/>
                </a:solidFill>
                <a:latin typeface="Segoe UI"/>
              </a:rPr>
              <a:t>Host Organization: Scale AI   •   Academic Sponsor: Qatar University, CSE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30352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BFD7EE"/>
                </a:solidFill>
                <a:latin typeface="Segoe UI"/>
              </a:rPr>
              <a:t>Supervisors: Dr Saleh Al Hazbi  •  Mr Ayman Adil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126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9CB8D1"/>
                </a:solidFill>
                <a:latin typeface="Segoe UI"/>
              </a:rPr>
              <a:t>15-minute presentation  +  5-minute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What I'll cover in 15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9DAEC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099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E4E6E"/>
                </a:solidFill>
                <a:latin typeface="Segoe UI"/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46504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Segoe UI"/>
              </a:rPr>
              <a:t>Why a single graduation number can't say what's actually delaying students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108813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9DAEC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6243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E4E6E"/>
                </a:solidFill>
                <a:latin typeface="Segoe UI"/>
              </a:rPr>
              <a:t>The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60904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Segoe UI"/>
              </a:rPr>
              <a:t>A discrete-term, multi-cohort simulation engine + full-stack decision-support tool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83280"/>
            <a:ext cx="108813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9DAEC"/>
                </a:solidFill>
                <a:latin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387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E4E6E"/>
                </a:solidFill>
                <a:latin typeface="Segoe UI"/>
              </a:rPr>
              <a:t>Live Look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575304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Segoe UI"/>
              </a:rPr>
              <a:t>Bottlenecks, Advisor, and Analytics as they actually run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97680"/>
            <a:ext cx="108813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43484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9DAEC"/>
                </a:solidFill>
                <a:latin typeface="Segoe U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531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E4E6E"/>
                </a:solidFill>
                <a:latin typeface="Segoe UI"/>
              </a:rPr>
              <a:t>The Findings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489704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Segoe UI"/>
              </a:rPr>
              <a:t>What an 8-cohort steady-state QU CS department reveals at 66% graduation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12080"/>
            <a:ext cx="10881360" cy="9525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C9DAEC"/>
                </a:solidFill>
                <a:latin typeface="Segoe U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367528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2E4E6E"/>
                </a:solidFill>
                <a:latin typeface="Segoe UI"/>
              </a:rPr>
              <a:t>Lessons +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04104"/>
            <a:ext cx="69494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555F6B"/>
                </a:solidFill>
                <a:latin typeface="Segoe UI"/>
              </a:rPr>
              <a:t>What I'd build next, and what I learned cutting scope twice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01 ·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 dirty="0">
                <a:solidFill>
                  <a:srgbClr val="1F2937"/>
                </a:solidFill>
                <a:latin typeface="Segoe UI"/>
              </a:rPr>
              <a:t>Delay looks the same in a transcript -- it isn't the same in cause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53693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1F2937"/>
                </a:solidFill>
                <a:latin typeface="Segoe UI"/>
              </a:rPr>
              <a:t>A student who takes 9 semesters instead of 8 could be delayed for four completely different reasons: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514600"/>
            <a:ext cx="2606040" cy="23317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514600"/>
            <a:ext cx="2606040" cy="109728"/>
          </a:xfrm>
          <a:prstGeom prst="rect">
            <a:avLst/>
          </a:prstGeom>
          <a:solidFill>
            <a:srgbClr val="E9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8952" y="2834640"/>
            <a:ext cx="2276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E4E6E"/>
                </a:solidFill>
                <a:latin typeface="Segoe UI"/>
              </a:rPr>
              <a:t>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657600"/>
            <a:ext cx="22768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a hard gateway course and had to retake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514600"/>
            <a:ext cx="2606040" cy="23317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83280" y="2514600"/>
            <a:ext cx="2606040" cy="109728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47872" y="2834640"/>
            <a:ext cx="2276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E4E6E"/>
                </a:solidFill>
                <a:latin typeface="Segoe UI"/>
              </a:rPr>
              <a:t>Blocked by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657600"/>
            <a:ext cx="22768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seats ran out in a required course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514600"/>
            <a:ext cx="2606040" cy="23317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2514600"/>
            <a:ext cx="2606040" cy="10972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36792" y="2834640"/>
            <a:ext cx="2276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E4E6E"/>
                </a:solidFill>
                <a:latin typeface="Segoe UI"/>
              </a:rPr>
              <a:t>Blocked by offering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3657600"/>
            <a:ext cx="22768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the course simply wasn't taught that term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514600"/>
            <a:ext cx="2606040" cy="233172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961120" y="2514600"/>
            <a:ext cx="2606040" cy="109728"/>
          </a:xfrm>
          <a:prstGeom prst="rect">
            <a:avLst/>
          </a:prstGeom>
          <a:solidFill>
            <a:srgbClr val="6EB5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25712" y="2834640"/>
            <a:ext cx="227685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E4E6E"/>
                </a:solidFill>
                <a:latin typeface="Segoe UI"/>
              </a:rPr>
              <a:t>Blocked by prerequisites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657600"/>
            <a:ext cx="227685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still waiting on an earlier course to clear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108813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1">
                <a:solidFill>
                  <a:srgbClr val="1F2937"/>
                </a:solidFill>
                <a:latin typeface="Segoe UI"/>
              </a:rPr>
              <a:t>These four causes demand four different fixes -- more sections, more seats, a different offering schedule, or a redesigned prerequisite chain. A single graduation-rate number cannot tell a department which one it's looking at. This is the gap the simulator is built to close.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02 ·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What I built: a multi-cohort curriculum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91640"/>
            <a:ext cx="6035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Agent-based, discrete-term engine.</a:t>
            </a:r>
            <a:r>
              <a:rPr sz="1650">
                <a:solidFill>
                  <a:srgbClr val="1F2937"/>
                </a:solidFill>
                <a:latin typeface="Segoe UI"/>
              </a:rPr>
              <a:t> Each student is simulated individually -- their own GPA, completed credits, probation status, and history -- across up to 12 semesters.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Real QU CS curriculum.</a:t>
            </a:r>
            <a:r>
              <a:rPr sz="1650">
                <a:solidFill>
                  <a:srgbClr val="1F2937"/>
                </a:solidFill>
                <a:latin typeface="Segoe UI"/>
              </a:rPr>
              <a:t> The actual 2024 study plan: 41 courses, 120 credit hours, real prerequisite chains and offering patterns.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Steady-state, not one class.</a:t>
            </a:r>
            <a:r>
              <a:rPr sz="1650">
                <a:solidFill>
                  <a:srgbClr val="1F2937"/>
                </a:solidFill>
                <a:latin typeface="Segoe UI"/>
              </a:rPr>
              <a:t> 8 overlapping cohorts are admitted every year and all compete for the same shared pool of course seats -- just like a real department.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Four separated bottleneck signals.</a:t>
            </a:r>
            <a:r>
              <a:rPr sz="1650">
                <a:solidFill>
                  <a:srgbClr val="1F2937"/>
                </a:solidFill>
                <a:latin typeface="Segoe UI"/>
              </a:rPr>
              <a:t> Failure, capacity, offering, and prerequisite blocks are tracked independently, never merged into one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9900" y="2065020"/>
            <a:ext cx="4922520" cy="3102864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report_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491" y="1746504"/>
            <a:ext cx="5417337" cy="3383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0" y="5221224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555F6B"/>
                </a:solidFill>
                <a:latin typeface="Segoe UI"/>
              </a:rPr>
              <a:t>The dashboard: checkpoint-driven, term-by-term walkthrough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02 ·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A layered, full-stack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881360" cy="1024128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Simulation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D8E6F2"/>
                </a:solidFill>
                <a:latin typeface="Segoe UI"/>
              </a:rPr>
              <a:t>src/simulator.py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8483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Python discrete-term loop: admits cohorts, runs the 3-phase term cycle, tracks every block signal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926080"/>
            <a:ext cx="10881360" cy="1024128"/>
          </a:xfrm>
          <a:prstGeom prst="rect">
            <a:avLst/>
          </a:prstGeom>
          <a:solidFill>
            <a:srgbClr val="4A86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Service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930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D8E6F2"/>
                </a:solidFill>
                <a:latin typeface="Segoe UI"/>
              </a:rPr>
              <a:t>src/service.py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318211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run_simulation() -- no file I/O, the seam every caller (script, API, checkpoint) shares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23360"/>
            <a:ext cx="10881360" cy="1024128"/>
          </a:xfrm>
          <a:prstGeom prst="rect">
            <a:avLst/>
          </a:prstGeom>
          <a:solidFill>
            <a:srgbClr val="3D7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API +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59028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D8E6F2"/>
                </a:solidFill>
                <a:latin typeface="Segoe UI"/>
              </a:rPr>
              <a:t>src/api.py, db.py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427939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FastAPI endpoints over a SQLAlchemy/SQLite model: plans, courses, config, scenarios, runs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120640"/>
            <a:ext cx="10881360" cy="1024128"/>
          </a:xfrm>
          <a:prstGeom prst="rect">
            <a:avLst/>
          </a:prstGeom>
          <a:solidFill>
            <a:srgbClr val="2E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5212080"/>
            <a:ext cx="2743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egoe UI"/>
              </a:rPr>
              <a:t>Web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8756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D8E6F2"/>
                </a:solidFill>
                <a:latin typeface="Segoe UI"/>
              </a:rPr>
              <a:t>web/ (Next.js/React)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5376672"/>
            <a:ext cx="74980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FFFFFF"/>
                </a:solidFill>
                <a:latin typeface="Segoe UI"/>
              </a:rPr>
              <a:t>Interactive roadmap, Bottlenecks, Advisor, and checkpoint-mode walkthrough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1722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555F6B"/>
                </a:solidFill>
                <a:latin typeface="Segoe UI"/>
              </a:rPr>
              <a:t>One engine, reused unchanged by a CLI script, an HTTP API, and a resumable checkpoint session.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02 ·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Every term: a 3-phase loop, per student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3520440" cy="4023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8036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E4E6E"/>
                </a:solidFill>
                <a:latin typeface="Segoe UI"/>
              </a:rPr>
              <a:t>Desired Enrollment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2044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Each student builds a priority list: retakes first, then core/college-requirement courses, electives once they've earned enough credit, then remaining requirements -- capped by their course-load limit.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783080"/>
            <a:ext cx="3520440" cy="4023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80560" y="2057400"/>
            <a:ext cx="640080" cy="64008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8036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E4E6E"/>
                </a:solidFill>
                <a:latin typeface="Segoe UI"/>
              </a:rPr>
              <a:t>Seat Allocation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52044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Requesters are ranked by class standing + a random tiebreak; seats are granted until capacity runs out. Seniors from older cohorts automatically outrank freshmen -- no special-case code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1783080"/>
            <a:ext cx="3520440" cy="402336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38160" y="2057400"/>
            <a:ext cx="640080" cy="64008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80360"/>
            <a:ext cx="3063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2E4E6E"/>
                </a:solidFill>
                <a:latin typeface="Segoe UI"/>
              </a:rPr>
              <a:t>Course Outcomes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3520440"/>
            <a:ext cx="3063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Each granted enrollment resolves to pass/fail via a seeded random draw; GPA, completed credit hours, probation, and graduation status update accordingly.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9893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1">
                <a:solidFill>
                  <a:srgbClr val="1F2937"/>
                </a:solidFill>
                <a:latin typeface="Segoe UI"/>
              </a:rPr>
              <a:t>Students are simulated individually, not as one averaged cohort -- prerequisite eligibility depends on each student's own history.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03 · LIVE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The core innovation: four bottleneck signals, never merged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311140" y="1699260"/>
            <a:ext cx="6385560" cy="4017263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eport_bottlenecks_analy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737360"/>
            <a:ext cx="6309360" cy="39410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9240" y="5769863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5F6B"/>
                </a:solidFill>
                <a:latin typeface="Segoe UI"/>
              </a:rPr>
              <a:t>Ranked live from the four block-signal counters (fail/capacity/offering/prereq)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Failure</a:t>
            </a:r>
            <a:r>
              <a:rPr sz="1650">
                <a:solidFill>
                  <a:srgbClr val="1F2937"/>
                </a:solidFill>
                <a:latin typeface="Segoe UI"/>
              </a:rPr>
              <a:t> -- the course was genuinely hard and students failed it.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Capacity</a:t>
            </a:r>
            <a:r>
              <a:rPr sz="1650">
                <a:solidFill>
                  <a:srgbClr val="1F2937"/>
                </a:solidFill>
                <a:latin typeface="Segoe UI"/>
              </a:rPr>
              <a:t> -- an eligible student requested a seat and lost the allocation.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Offering</a:t>
            </a:r>
            <a:r>
              <a:rPr sz="1650">
                <a:solidFill>
                  <a:srgbClr val="1F2937"/>
                </a:solidFill>
                <a:latin typeface="Segoe UI"/>
              </a:rPr>
              <a:t> -- the course simply wasn't taught that term.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Prerequisite</a:t>
            </a:r>
            <a:r>
              <a:rPr sz="1650">
                <a:solidFill>
                  <a:srgbClr val="1F2937"/>
                </a:solidFill>
                <a:latin typeface="Segoe UI"/>
              </a:rPr>
              <a:t> -- still waiting on an upstream course to clear.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Why it matters:</a:t>
            </a:r>
            <a:r>
              <a:rPr sz="1650">
                <a:solidFill>
                  <a:srgbClr val="1F2937"/>
                </a:solidFill>
                <a:latin typeface="Segoe UI"/>
              </a:rPr>
              <a:t> each signal points to a different fix -- more capacity, a different schedule, or curriculum redesign -- so a claim about "why students are delayed" is backed by specific, checkable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03 · LIVE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From diagnosis to action: Advisor + Auto-fill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311140" y="1699260"/>
            <a:ext cx="6385560" cy="4017263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eport_advisor_recommend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737360"/>
            <a:ext cx="6309360" cy="39410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9240" y="5769863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5F6B"/>
                </a:solidFill>
                <a:latin typeface="Segoe UI"/>
              </a:rPr>
              <a:t>Rules-based recommendations, grounded LLM proposals, sandbox-tested before any write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Rules-based Advisor.</a:t>
            </a:r>
            <a:r>
              <a:rPr sz="1650">
                <a:solidFill>
                  <a:srgbClr val="1F2937"/>
                </a:solidFill>
                <a:latin typeface="Segoe UI"/>
              </a:rPr>
              <a:t> Reads the run's health criteria and top bottlenecks into a prioritized, plain-language list -- no LLM, no API key needed.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Grounded LLM chat.</a:t>
            </a:r>
            <a:r>
              <a:rPr sz="1650">
                <a:solidFill>
                  <a:srgbClr val="1F2937"/>
                </a:solidFill>
                <a:latin typeface="Segoe UI"/>
              </a:rPr>
              <a:t> Optional chat grounded in the run's real numbers and the full active curriculum -- answers course-level questions, never invents figures.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Test, then Apply.</a:t>
            </a:r>
            <a:r>
              <a:rPr sz="1650">
                <a:solidFill>
                  <a:srgbClr val="1F2937"/>
                </a:solidFill>
                <a:latin typeface="Segoe UI"/>
              </a:rPr>
              <a:t> Any proposed change (capacity, pass rate, offering, cohort size) can be tested in a sandboxed simulation before it ever touches the live plan.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Auto-fill solver.</a:t>
            </a:r>
            <a:r>
              <a:rPr sz="1650">
                <a:solidFill>
                  <a:srgbClr val="1F2937"/>
                </a:solidFill>
                <a:latin typeface="Segoe UI"/>
              </a:rPr>
              <a:t> Each iteration re-simulates once, bumps the course with the worst single-term shortfall, capped at 20 runs.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03 · LIVE 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Watching the steady state: multi-cohort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311140" y="1699260"/>
            <a:ext cx="6385560" cy="4017263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report_analytics_figu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737360"/>
            <a:ext cx="6309360" cy="39410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9240" y="5769863"/>
            <a:ext cx="6309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555F6B"/>
                </a:solidFill>
                <a:latin typeface="Segoe UI"/>
              </a:rPr>
              <a:t>Rendered from the same per-term History ledger every other page 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Population view.</a:t>
            </a:r>
            <a:r>
              <a:rPr sz="1650">
                <a:solidFill>
                  <a:srgbClr val="1F2937"/>
                </a:solidFill>
                <a:latin typeface="Segoe UI"/>
              </a:rPr>
              <a:t> One timeline frame per term, aggregated from every active student across all 8 overlapping cohorts.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Per-cohort flow.</a:t>
            </a:r>
            <a:r>
              <a:rPr sz="1650">
                <a:solidFill>
                  <a:srgbClr val="1F2937"/>
                </a:solidFill>
                <a:latin typeface="Segoe UI"/>
              </a:rPr>
              <a:t> A cohort ledger row recorded every term tracks who's stuck, progressing, or dropped out, per entering class.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50" b="1">
                <a:solidFill>
                  <a:srgbClr val="2E4E6E"/>
                </a:solidFill>
                <a:latin typeface="Segoe UI"/>
              </a:rPr>
              <a:t>•  Only meaningful once realistic.</a:t>
            </a:r>
            <a:r>
              <a:rPr sz="1650">
                <a:solidFill>
                  <a:srgbClr val="1F2937"/>
                </a:solidFill>
                <a:latin typeface="Segoe UI"/>
              </a:rPr>
              <a:t> These charts only became a real signal after the offering schedule and admissions model matched QU's actual pattern -- not a blanket Fall+Spring assumption.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04 · THE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Baseline results: 8 cohorts, 100 students/year, 12-semester horizon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563624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28800"/>
            <a:ext cx="10881360" cy="566928"/>
          </a:xfrm>
          <a:prstGeom prst="rect">
            <a:avLst/>
          </a:prstGeom>
          <a:solidFill>
            <a:srgbClr val="2E4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385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385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Single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93852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Monte Carlo mean (95% CI)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395728"/>
            <a:ext cx="1088136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Segoe UI"/>
              </a:rPr>
              <a:t>Graduation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1460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4E6E"/>
                </a:solidFill>
                <a:latin typeface="Segoe UI"/>
              </a:rPr>
              <a:t>66.1%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1460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65.8% (65.4-66.2%)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962656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081528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Segoe UI"/>
              </a:rPr>
              <a:t>Academic dropout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081528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4E6E"/>
                </a:solidFill>
                <a:latin typeface="Segoe UI"/>
              </a:rPr>
              <a:t>30.5%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081528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30.9% (30.4-31.3%)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529584"/>
            <a:ext cx="1088136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648456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Segoe UI"/>
              </a:rPr>
              <a:t>Censored (hits 12-sem horizon)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648456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4E6E"/>
                </a:solidFill>
                <a:latin typeface="Segoe UI"/>
              </a:rPr>
              <a:t>3.4%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648456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3.4% (3.0-3.7%)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096512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215384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Segoe UI"/>
              </a:rPr>
              <a:t>Average time to graduate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215384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4E6E"/>
                </a:solidFill>
                <a:latin typeface="Segoe UI"/>
              </a:rPr>
              <a:t>8.8 semesters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215384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8.8 semesters (8.73-8.77)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663440"/>
            <a:ext cx="10881360" cy="566928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478231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Segoe UI"/>
              </a:rPr>
              <a:t>On-time rate (within 8 semesters)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478231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4E6E"/>
                </a:solidFill>
                <a:latin typeface="Segoe UI"/>
              </a:rPr>
              <a:t>33.5%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4782312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33.5% (32.9-34.0%)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230368"/>
            <a:ext cx="10881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3492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1F2937"/>
                </a:solidFill>
                <a:latin typeface="Segoe UI"/>
              </a:rPr>
              <a:t>Probation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534924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2E4E6E"/>
                </a:solidFill>
                <a:latin typeface="Segoe UI"/>
              </a:rPr>
              <a:t>14.2%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34924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13.7% (13.4-14.0%)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25896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1">
                <a:solidFill>
                  <a:srgbClr val="1F2937"/>
                </a:solidFill>
                <a:latin typeface="Segoe UI"/>
              </a:rPr>
              <a:t>Two-thirds of students graduate within 12 semesters -- but only a third graduate on the nominal 8-semester schedule. The single run and 30-seed Monte Carlo average agree closely: a useful check that these figures aren't one lucky or unlucky seed.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04 · THE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 dirty="0">
                <a:solidFill>
                  <a:srgbClr val="1F2937"/>
                </a:solidFill>
                <a:latin typeface="Segoe UI"/>
              </a:rPr>
              <a:t>Reading the four signals separately: </a:t>
            </a:r>
            <a:r>
              <a:rPr lang="en-US" sz="3000" b="1" i="0" dirty="0">
                <a:solidFill>
                  <a:srgbClr val="1F2937"/>
                </a:solidFill>
                <a:latin typeface="Segoe UI"/>
              </a:rPr>
              <a:t>three</a:t>
            </a:r>
            <a:r>
              <a:rPr sz="3000" b="1" i="0" dirty="0">
                <a:solidFill>
                  <a:srgbClr val="1F2937"/>
                </a:solidFill>
                <a:latin typeface="Segoe UI"/>
              </a:rPr>
              <a:t> distinct causes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37360"/>
            <a:ext cx="109728" cy="1325880"/>
          </a:xfrm>
          <a:prstGeom prst="rect">
            <a:avLst/>
          </a:prstGeom>
          <a:solidFill>
            <a:srgbClr val="E9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3736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2E4E6E"/>
                </a:solidFill>
                <a:latin typeface="Segoe UI"/>
              </a:rPr>
              <a:t>Failure is concentrated in the math gateway.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57984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MATH102, MATH101, and MATH231 are the three most-failed courses -- each with 200+ failed attempts. These early courses gate a large share of the downstream curriculum, so one failure has an outsized effect on a student's whole trajectory.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18688"/>
            <a:ext cx="109728" cy="132588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2E4E6E"/>
                </a:solidFill>
                <a:latin typeface="Segoe UI"/>
              </a:rPr>
              <a:t>Capacity pressure is concentrated in electives -- by design.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39312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CSEL2 and CSEL3 account for by far the most capacity-blocked requests (907 and 880). This is the intended effect of the sizing policy: electives are deliberately squeezed since 4 interchangeable slots and no prerequisite chain make contention there the least costly place to feel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700016"/>
            <a:ext cx="109728" cy="132588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700016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50" b="1" i="0">
                <a:solidFill>
                  <a:srgbClr val="2E4E6E"/>
                </a:solidFill>
                <a:latin typeface="Segoe UI"/>
              </a:rPr>
              <a:t>Prerequisite waiting peaks right before the senior project.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CMPS499 and CMPS493 show the largest prerequisite-block counts -- consistent with sitting at the end of a long compound chain, not being bottlenecks themselves.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05 · LESSONS +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Three challenges that shaped the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83080"/>
            <a:ext cx="10881360" cy="1234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4E6E"/>
                </a:solidFill>
                <a:latin typeface="Segoe UI"/>
              </a:rPr>
              <a:t>Optional terms almost broke the academic clock.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Summer/Winter terms shouldn't cost a student one of their limited semesters. Fix: split global calendar time from each student's personal semester counter.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200400"/>
            <a:ext cx="10881360" cy="1234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4E6E"/>
                </a:solidFill>
                <a:latin typeface="Segoe UI"/>
              </a:rPr>
              <a:t>Determinism had to be designed in from day one.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490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Every student uses a seeded random stream (seed + student ID), so scenario comparisons reflect the change being tested -- not a different random draw.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617720"/>
            <a:ext cx="10881360" cy="123444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75488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4E6E"/>
                </a:solidFill>
                <a:latin typeface="Segoe UI"/>
              </a:rPr>
              <a:t>More features didn't always mean a better system.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F6B"/>
                </a:solidFill>
                <a:latin typeface="Segoe UI"/>
              </a:rPr>
              <a:t>Two features I built and that worked correctly -- the original Live Simulation mode, and a Per-Student Trace -- were still removed once they stopped earning their place against the core research question.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5B9BD5"/>
                </a:solidFill>
                <a:latin typeface="Segoe UI"/>
              </a:rPr>
              <a:t>05 · LESSONS +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1F2937"/>
                </a:solidFill>
                <a:latin typeface="Segoe U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98448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555F6B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555F6B"/>
                </a:solidFill>
                <a:latin typeface="Segoe UI"/>
              </a:rPr>
              <a:t>Cohort Flow Simulator  |  Scale x Qatar University Practical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0881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E4E6E"/>
                </a:solidFill>
                <a:latin typeface="Segoe UI"/>
              </a:rPr>
              <a:t>•  Calibrate against real historical data.</a:t>
            </a:r>
            <a:r>
              <a:rPr sz="1700">
                <a:solidFill>
                  <a:srgbClr val="1F2937"/>
                </a:solidFill>
                <a:latin typeface="Segoe UI"/>
              </a:rPr>
              <a:t> Replace assumed pass rates/capacities with actual QU enrollment and graduation records.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E4E6E"/>
                </a:solidFill>
                <a:latin typeface="Segoe UI"/>
              </a:rPr>
              <a:t>•  Immediate, model-suggested next step.</a:t>
            </a:r>
            <a:r>
              <a:rPr sz="1700">
                <a:solidFill>
                  <a:srgbClr val="1F2937"/>
                </a:solidFill>
                <a:latin typeface="Segoe UI"/>
              </a:rPr>
              <a:t> Raise CSEL2/CSEL3 capacity toward the peak-demand standard (or run Auto-fill against a seat-denial target) and check how much of the 66%-to-33% gap closes -- before touching intake size.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E4E6E"/>
                </a:solidFill>
                <a:latin typeface="Segoe UI"/>
              </a:rPr>
              <a:t>•  Richer scenario comparison.</a:t>
            </a:r>
            <a:r>
              <a:rPr sz="1700">
                <a:solidFill>
                  <a:srgbClr val="1F2937"/>
                </a:solidFill>
                <a:latin typeface="Segoe UI"/>
              </a:rPr>
              <a:t> Compare capacity, offering, and prerequisite-sequencing interventions side by side, beyond a single baseline.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 b="1">
                <a:solidFill>
                  <a:srgbClr val="2E4E6E"/>
                </a:solidFill>
                <a:latin typeface="Segoe UI"/>
              </a:rPr>
              <a:t>•  Deeper advisor guidance.</a:t>
            </a:r>
            <a:r>
              <a:rPr sz="1700">
                <a:solidFill>
                  <a:srgbClr val="1F2937"/>
                </a:solidFill>
                <a:latin typeface="Segoe UI"/>
              </a:rPr>
              <a:t> Expand the proposal-and-test workflow into more guided academic-planning suggestions.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4E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BFD7EE"/>
                </a:solidFill>
                <a:latin typeface="Segoe U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A graduation number alone can't say why students are delayed.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37744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D8E6F2"/>
                </a:solidFill>
                <a:latin typeface="Segoe UI"/>
              </a:rPr>
              <a:t>The Cohort Flow Simulator answers that question with structured, checkable evidence: a steady-state graduation rate of roughly two-thirds, driven primarily by failure risk in a few math gateway courses and by a deliberately scarce elective seat pool -- each pointing to a different, concrete intervention.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977639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425196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Segoe UI"/>
              </a:rPr>
              <a:t>Built end-to-end: simulation engine, FastAPI backend, SQLite persistence, and a Next.js dashboard -- a full-stack decision-support tool for real institutional planning, not just a research script.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4630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2E4E6E"/>
                </a:solidFill>
                <a:latin typeface="Segoe U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651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5B9BD5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337560"/>
            <a:ext cx="1005840" cy="44450"/>
          </a:xfrm>
          <a:prstGeom prst="rect">
            <a:avLst/>
          </a:prstGeom>
          <a:solidFill>
            <a:srgbClr val="E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3657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555F6B"/>
                </a:solidFill>
                <a:latin typeface="Segoe UI"/>
              </a:rPr>
              <a:t>github.com/najeeb101/Single-Cohort-Flow-Simulator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0690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555F6B"/>
                </a:solidFill>
                <a:latin typeface="Segoe UI"/>
              </a:rPr>
              <a:t>Najeeb Barkhad  •  202307172  •  Scale AI x Qatar University Practical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37760"/>
            <a:ext cx="10698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9CA7B3"/>
                </a:solidFill>
                <a:latin typeface="Segoe UI"/>
              </a:rPr>
              <a:t>Anticipate: Why 8 cohorts / 100 students? How is pass/fail decided? What would you calibrate first against real data? Why keep the prerequisite signal off the Bottlenecks card?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3602</TotalTime>
  <Words>2322</Words>
  <Application>Microsoft Office PowerPoint</Application>
  <PresentationFormat>Widescreen</PresentationFormat>
  <Paragraphs>185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Najeeb Abdurahman Barkhad</cp:lastModifiedBy>
  <cp:revision>4</cp:revision>
  <dcterms:created xsi:type="dcterms:W3CDTF">2013-01-27T09:14:16Z</dcterms:created>
  <dcterms:modified xsi:type="dcterms:W3CDTF">2026-07-29T18:16:50Z</dcterms:modified>
  <cp:category/>
</cp:coreProperties>
</file>